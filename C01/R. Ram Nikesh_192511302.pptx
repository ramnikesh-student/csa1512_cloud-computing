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7"/>
  </p:notesMasterIdLst>
  <p:sldIdLst>
    <p:sldId id="256" r:id="rId2"/>
    <p:sldId id="257" r:id="rId3"/>
    <p:sldId id="258" r:id="rId4"/>
    <p:sldId id="259" r:id="rId5"/>
    <p:sldId id="261" r:id="rId6"/>
  </p:sldIdLst>
  <p:sldSz cx="9144000" cy="5143500" type="screen16x9"/>
  <p:notesSz cx="6858000" cy="9144000"/>
  <p:embeddedFontLst>
    <p:embeddedFont>
      <p:font typeface="Playfair Display" panose="00000500000000000000" pitchFamily="2"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1AC60-3768-4D4D-9B34-8211114726AF}" v="50" dt="2026-07-28T07:46:03.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625"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76565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f597e362f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f597e362f2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7928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597e362f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597e362f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9637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597e362f2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597e362f2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07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597e362f2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f597e362f2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2895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97e362f2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597e362f2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8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432054" y="843534"/>
            <a:ext cx="8277606" cy="2379726"/>
          </a:xfrm>
        </p:spPr>
        <p:txBody>
          <a:bodyPr anchor="b">
            <a:normAutofit/>
          </a:bodyPr>
          <a:lstStyle>
            <a:lvl1pPr algn="l">
              <a:defRPr sz="14222"/>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432054" y="3545586"/>
            <a:ext cx="8277606" cy="1110996"/>
          </a:xfrm>
        </p:spPr>
        <p:txBody>
          <a:bodyPr>
            <a:normAutofit/>
          </a:bodyPr>
          <a:lstStyle>
            <a:lvl1pPr marL="0" indent="0" algn="l">
              <a:buNone/>
              <a:defRPr sz="4978"/>
            </a:lvl1pPr>
            <a:lvl2pPr marL="812810" indent="0" algn="ctr">
              <a:buNone/>
              <a:defRPr sz="3556"/>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432054" y="4767263"/>
            <a:ext cx="2057400" cy="273844"/>
          </a:xfrm>
        </p:spPr>
        <p:txBody>
          <a:bodyPr/>
          <a:lstStyle/>
          <a:p>
            <a:fld id="{965A7A7B-B71A-428D-833F-0F3507A6DB13}" type="datetimeFigureOut">
              <a:rPr lang="en-US" dirty="0"/>
              <a:t>7/28/2026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6652260" y="4767263"/>
            <a:ext cx="2057400" cy="273844"/>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643158" y="260093"/>
            <a:ext cx="109728" cy="5280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433989" y="3375901"/>
            <a:ext cx="8276022" cy="13716"/>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87869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418657" y="0"/>
            <a:ext cx="8375585" cy="151410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374126" y="590514"/>
            <a:ext cx="96012" cy="5280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36676" y="411480"/>
            <a:ext cx="7626096" cy="884682"/>
          </a:xfrm>
        </p:spPr>
        <p:txBody>
          <a:bodyPr>
            <a:normAutofit/>
          </a:bodyPr>
          <a:lstStyle>
            <a:lvl1pPr>
              <a:defRPr sz="7111"/>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36676" y="1858518"/>
            <a:ext cx="7626096" cy="277063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836676" y="4767263"/>
            <a:ext cx="2057400" cy="273844"/>
          </a:xfrm>
        </p:spPr>
        <p:txBody>
          <a:bodyPr/>
          <a:lstStyle/>
          <a:p>
            <a:fld id="{5CF65307-640F-4AE7-B0BE-50C709AD86C5}" type="datetimeFigureOut">
              <a:rPr lang="en-US" dirty="0"/>
              <a:t>7/28/2026</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6405372" y="4767263"/>
            <a:ext cx="2057400" cy="273844"/>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052977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418658" y="3736066"/>
            <a:ext cx="8351217" cy="61722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374126" y="3838936"/>
            <a:ext cx="109728" cy="411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418338" y="480060"/>
            <a:ext cx="8167878" cy="3086100"/>
          </a:xfrm>
        </p:spPr>
        <p:txBody>
          <a:bodyPr anchor="b">
            <a:normAutofit/>
          </a:bodyPr>
          <a:lstStyle>
            <a:lvl1pPr>
              <a:defRPr sz="11733"/>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630936" y="3826764"/>
            <a:ext cx="7955280" cy="438912"/>
          </a:xfrm>
        </p:spPr>
        <p:txBody>
          <a:bodyPr anchor="ctr">
            <a:normAutofit/>
          </a:bodyPr>
          <a:lstStyle>
            <a:lvl1pPr marL="0" indent="0">
              <a:buNone/>
              <a:defRPr sz="3556">
                <a:solidFill>
                  <a:schemeClr val="tx1"/>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7/28/2026</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908918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418657" y="0"/>
            <a:ext cx="8375585" cy="151410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374126" y="590514"/>
            <a:ext cx="96012" cy="5280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836676" y="411480"/>
            <a:ext cx="7626096" cy="884682"/>
          </a:xfrm>
        </p:spPr>
        <p:txBody>
          <a:bodyPr>
            <a:normAutofit/>
          </a:bodyPr>
          <a:lstStyle>
            <a:lvl1pPr>
              <a:defRPr sz="7111"/>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836676" y="1858518"/>
            <a:ext cx="3703320" cy="277063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4759452" y="1858518"/>
            <a:ext cx="3703320" cy="277063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836676" y="4767263"/>
            <a:ext cx="2057400" cy="273844"/>
          </a:xfrm>
        </p:spPr>
        <p:txBody>
          <a:bodyPr/>
          <a:lstStyle/>
          <a:p>
            <a:fld id="{202278E8-5F4B-47D5-A617-8CCDF75D6A33}" type="datetimeFigureOut">
              <a:rPr lang="en-US" dirty="0"/>
              <a:t>7/28/2026</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6405372" y="4767263"/>
            <a:ext cx="2057400" cy="273844"/>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253747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418657" y="0"/>
            <a:ext cx="8375585" cy="151410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374126" y="590514"/>
            <a:ext cx="96012" cy="5280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836676" y="411480"/>
            <a:ext cx="7626096" cy="884682"/>
          </a:xfrm>
        </p:spPr>
        <p:txBody>
          <a:bodyPr>
            <a:normAutofit/>
          </a:bodyPr>
          <a:lstStyle>
            <a:lvl1pPr>
              <a:defRPr sz="7111"/>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836676" y="1779488"/>
            <a:ext cx="3703320" cy="617934"/>
          </a:xfrm>
        </p:spPr>
        <p:txBody>
          <a:bodyPr anchor="b"/>
          <a:lstStyle>
            <a:lvl1pPr marL="0" indent="0">
              <a:buNone/>
              <a:defRPr sz="4267" b="1" cap="none"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836676" y="2402766"/>
            <a:ext cx="3703320" cy="2226384"/>
          </a:xfrm>
        </p:spPr>
        <p:txBody>
          <a:bodyPr/>
          <a:lstStyle>
            <a:lvl1pPr>
              <a:defRPr sz="4267"/>
            </a:lvl1pPr>
            <a:lvl2pPr>
              <a:defRPr sz="3556"/>
            </a:lvl2pPr>
            <a:lvl3pPr>
              <a:defRPr sz="32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759452" y="1779488"/>
            <a:ext cx="3703320" cy="617934"/>
          </a:xfrm>
        </p:spPr>
        <p:txBody>
          <a:bodyPr anchor="b"/>
          <a:lstStyle>
            <a:lvl1pPr marL="0" indent="0">
              <a:buNone/>
              <a:defRPr sz="4267" b="1" cap="none"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759452" y="2402766"/>
            <a:ext cx="3703320" cy="2226383"/>
          </a:xfrm>
        </p:spPr>
        <p:txBody>
          <a:bodyPr/>
          <a:lstStyle>
            <a:lvl1pPr>
              <a:defRPr sz="4267"/>
            </a:lvl1pPr>
            <a:lvl2pPr>
              <a:defRPr sz="3556"/>
            </a:lvl2pPr>
            <a:lvl3pPr>
              <a:defRPr sz="32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836676" y="4767263"/>
            <a:ext cx="2057400" cy="273844"/>
          </a:xfrm>
        </p:spPr>
        <p:txBody>
          <a:bodyPr/>
          <a:lstStyle/>
          <a:p>
            <a:fld id="{16AAFA52-7A21-407F-8339-40DF182D7460}" type="datetimeFigureOut">
              <a:rPr lang="en-US" dirty="0"/>
              <a:t>7/28/2026</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6405372" y="4767263"/>
            <a:ext cx="2057400" cy="273844"/>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359190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499390" y="1150144"/>
            <a:ext cx="8187797" cy="2843213"/>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456813" y="2228849"/>
            <a:ext cx="96012"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809244" y="1453896"/>
            <a:ext cx="7632954" cy="2242566"/>
          </a:xfrm>
        </p:spPr>
        <p:txBody>
          <a:bodyPr>
            <a:normAutofit/>
          </a:bodyPr>
          <a:lstStyle>
            <a:lvl1pPr>
              <a:defRPr sz="96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7/28/2026</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948704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7/28/2026</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4222246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418658" y="871525"/>
            <a:ext cx="2805555" cy="3482508"/>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374126" y="1213781"/>
            <a:ext cx="109728" cy="617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651510" y="1282446"/>
            <a:ext cx="2324862" cy="1282446"/>
          </a:xfrm>
        </p:spPr>
        <p:txBody>
          <a:bodyPr tIns="45720" anchor="t">
            <a:normAutofit/>
          </a:bodyPr>
          <a:lstStyle>
            <a:lvl1pPr>
              <a:lnSpc>
                <a:spcPct val="100000"/>
              </a:lnSpc>
              <a:defRPr sz="6045"/>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3723894" y="1282446"/>
            <a:ext cx="5047488" cy="3072384"/>
          </a:xfrm>
        </p:spPr>
        <p:txBody>
          <a:bodyPr/>
          <a:lstStyle>
            <a:lvl1pPr>
              <a:defRPr sz="4978"/>
            </a:lvl1pPr>
            <a:lvl2pPr>
              <a:defRPr sz="4267"/>
            </a:lvl2pPr>
            <a:lvl3pPr>
              <a:defRPr sz="3556"/>
            </a:lvl3pPr>
            <a:lvl4pPr>
              <a:defRPr sz="3556"/>
            </a:lvl4pPr>
            <a:lvl5pPr>
              <a:defRPr sz="3556"/>
            </a:lvl5pPr>
            <a:lvl6pPr>
              <a:defRPr sz="3556"/>
            </a:lvl6pPr>
            <a:lvl7pPr>
              <a:defRPr sz="3556"/>
            </a:lvl7pPr>
            <a:lvl8pPr>
              <a:defRPr sz="3556"/>
            </a:lvl8pPr>
            <a:lvl9pPr>
              <a:defRPr sz="355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651510" y="2571750"/>
            <a:ext cx="2324862" cy="1549908"/>
          </a:xfrm>
        </p:spPr>
        <p:txBody>
          <a:bodyPr>
            <a:normAutofit/>
          </a:bodyPr>
          <a:lstStyle>
            <a:lvl1pPr marL="0" indent="0">
              <a:buNone/>
              <a:defRPr sz="3200"/>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651510" y="4767263"/>
            <a:ext cx="2057400" cy="273844"/>
          </a:xfrm>
        </p:spPr>
        <p:txBody>
          <a:bodyPr/>
          <a:lstStyle/>
          <a:p>
            <a:fld id="{6E6483A1-31A8-47A2-AB0A-53A7803D5EBF}" type="datetimeFigureOut">
              <a:rPr lang="en-US" dirty="0"/>
              <a:t>7/28/2026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087216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418658" y="871525"/>
            <a:ext cx="2805555" cy="3482508"/>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374126" y="1213781"/>
            <a:ext cx="109728" cy="617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651510" y="1282446"/>
            <a:ext cx="2324862" cy="1282446"/>
          </a:xfrm>
        </p:spPr>
        <p:txBody>
          <a:bodyPr tIns="45720" anchor="t">
            <a:normAutofit/>
          </a:bodyPr>
          <a:lstStyle>
            <a:lvl1pPr>
              <a:lnSpc>
                <a:spcPct val="100000"/>
              </a:lnSpc>
              <a:defRPr sz="6045"/>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3723894" y="870966"/>
            <a:ext cx="5047488" cy="3483864"/>
          </a:xfrm>
        </p:spPr>
        <p:txBody>
          <a:bodyPr anchor="t">
            <a:normAutofit/>
          </a:bodyPr>
          <a:lstStyle>
            <a:lvl1pPr marL="0" indent="0">
              <a:buNone/>
              <a:defRPr sz="4978"/>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651510" y="2578608"/>
            <a:ext cx="2324862" cy="1543050"/>
          </a:xfrm>
        </p:spPr>
        <p:txBody>
          <a:bodyPr>
            <a:normAutofit/>
          </a:bodyPr>
          <a:lstStyle>
            <a:lvl1pPr marL="0" indent="0">
              <a:buNone/>
              <a:defRPr sz="3200"/>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651510" y="4767263"/>
            <a:ext cx="2057400" cy="273844"/>
          </a:xfrm>
        </p:spPr>
        <p:txBody>
          <a:bodyPr/>
          <a:lstStyle/>
          <a:p>
            <a:fld id="{6D8810B9-2C7C-4CAF-99E2-617AE20BA331}" type="datetimeFigureOut">
              <a:rPr lang="en-US" dirty="0"/>
              <a:t>7/28/2026</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4212520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7/28/2026</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160705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6543675" y="273844"/>
            <a:ext cx="1971675" cy="435887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628650" y="273844"/>
            <a:ext cx="5800725" cy="435887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7/28/2026</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76853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62" name="Google Shape;62;p15"/>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3" name="Google Shape;63;p15"/>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0651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2133">
                <a:solidFill>
                  <a:schemeClr val="tx1">
                    <a:tint val="75000"/>
                  </a:schemeClr>
                </a:solidFill>
              </a:defRPr>
            </a:lvl1pPr>
          </a:lstStyle>
          <a:p>
            <a:fld id="{37E93E0A-5177-400C-87C9-C93AF466EC49}" type="datetimeFigureOut">
              <a:rPr lang="en-US" dirty="0"/>
              <a:t>7/28/2026</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2133">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2133">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178759320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5"/>
          <p:cNvSpPr txBox="1">
            <a:spLocks noGrp="1"/>
          </p:cNvSpPr>
          <p:nvPr>
            <p:ph type="ctrTitle"/>
          </p:nvPr>
        </p:nvSpPr>
        <p:spPr>
          <a:xfrm>
            <a:off x="344250" y="1187625"/>
            <a:ext cx="8455500" cy="23742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6796"/>
              <a:buNone/>
            </a:pPr>
            <a:r>
              <a:rPr lang="en" sz="3244">
                <a:solidFill>
                  <a:srgbClr val="0000FF"/>
                </a:solidFill>
                <a:latin typeface="Times New Roman"/>
                <a:ea typeface="Times New Roman"/>
                <a:cs typeface="Times New Roman"/>
                <a:sym typeface="Times New Roman"/>
              </a:rPr>
              <a:t>CSA1521 - CLOUD COMPUTING</a:t>
            </a:r>
            <a:endParaRPr sz="3244">
              <a:solidFill>
                <a:srgbClr val="0000FF"/>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6796"/>
              <a:buNone/>
            </a:pPr>
            <a:endParaRPr sz="3244">
              <a:solidFill>
                <a:srgbClr val="0000FF"/>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6796"/>
              <a:buNone/>
            </a:pPr>
            <a:r>
              <a:rPr lang="en" sz="2400">
                <a:solidFill>
                  <a:srgbClr val="222222"/>
                </a:solidFill>
                <a:highlight>
                  <a:srgbClr val="FFFFFF"/>
                </a:highlight>
                <a:latin typeface="Times New Roman"/>
                <a:ea typeface="Times New Roman"/>
                <a:cs typeface="Times New Roman"/>
                <a:sym typeface="Times New Roman"/>
              </a:rPr>
              <a:t>CO1 - AT3 - TECHNICAL PRESENTATION</a:t>
            </a:r>
            <a:endParaRPr sz="2400">
              <a:solidFill>
                <a:srgbClr val="222222"/>
              </a:solidFill>
              <a:highlight>
                <a:srgbClr val="FFFFFF"/>
              </a:highlight>
              <a:latin typeface="Times New Roman"/>
              <a:ea typeface="Times New Roman"/>
              <a:cs typeface="Times New Roman"/>
              <a:sym typeface="Times New Roman"/>
            </a:endParaRPr>
          </a:p>
          <a:p>
            <a:pPr marL="0" lvl="0" indent="0" algn="ctr" rtl="0">
              <a:lnSpc>
                <a:spcPct val="100000"/>
              </a:lnSpc>
              <a:spcBef>
                <a:spcPts val="0"/>
              </a:spcBef>
              <a:spcAft>
                <a:spcPts val="0"/>
              </a:spcAft>
              <a:buSzPts val="6800"/>
              <a:buNone/>
            </a:pPr>
            <a:endParaRPr sz="2400" b="0">
              <a:solidFill>
                <a:srgbClr val="222222"/>
              </a:solidFill>
              <a:highlight>
                <a:srgbClr val="FFFFFF"/>
              </a:highlight>
              <a:latin typeface="Times New Roman"/>
              <a:ea typeface="Times New Roman"/>
              <a:cs typeface="Times New Roman"/>
              <a:sym typeface="Times New Roman"/>
            </a:endParaRPr>
          </a:p>
        </p:txBody>
      </p:sp>
      <p:pic>
        <p:nvPicPr>
          <p:cNvPr id="105" name="Google Shape;105;p25"/>
          <p:cNvPicPr preferRelativeResize="0"/>
          <p:nvPr/>
        </p:nvPicPr>
        <p:blipFill rotWithShape="1">
          <a:blip r:embed="rId3">
            <a:alphaModFix/>
          </a:blip>
          <a:srcRect l="7407"/>
          <a:stretch/>
        </p:blipFill>
        <p:spPr>
          <a:xfrm>
            <a:off x="0" y="0"/>
            <a:ext cx="919163" cy="685800"/>
          </a:xfrm>
          <a:prstGeom prst="rect">
            <a:avLst/>
          </a:prstGeom>
          <a:solidFill>
            <a:srgbClr val="FFFFFF"/>
          </a:solidFill>
          <a:ln>
            <a:noFill/>
          </a:ln>
        </p:spPr>
      </p:pic>
      <p:pic>
        <p:nvPicPr>
          <p:cNvPr id="106" name="Google Shape;106;p25"/>
          <p:cNvPicPr preferRelativeResize="0"/>
          <p:nvPr/>
        </p:nvPicPr>
        <p:blipFill rotWithShape="1">
          <a:blip r:embed="rId4">
            <a:alphaModFix/>
          </a:blip>
          <a:srcRect/>
          <a:stretch/>
        </p:blipFill>
        <p:spPr>
          <a:xfrm>
            <a:off x="8620125" y="10716"/>
            <a:ext cx="523875" cy="664369"/>
          </a:xfrm>
          <a:prstGeom prst="rect">
            <a:avLst/>
          </a:prstGeom>
          <a:noFill/>
          <a:ln>
            <a:noFill/>
          </a:ln>
        </p:spPr>
      </p:pic>
      <p:pic>
        <p:nvPicPr>
          <p:cNvPr id="107" name="Google Shape;107;p25"/>
          <p:cNvPicPr preferRelativeResize="0"/>
          <p:nvPr/>
        </p:nvPicPr>
        <p:blipFill rotWithShape="1">
          <a:blip r:embed="rId5">
            <a:alphaModFix/>
          </a:blip>
          <a:srcRect/>
          <a:stretch/>
        </p:blipFill>
        <p:spPr>
          <a:xfrm>
            <a:off x="1785913" y="405988"/>
            <a:ext cx="5572125" cy="614363"/>
          </a:xfrm>
          <a:prstGeom prst="rect">
            <a:avLst/>
          </a:prstGeom>
          <a:noFill/>
          <a:ln>
            <a:noFill/>
          </a:ln>
        </p:spPr>
      </p:pic>
      <p:sp>
        <p:nvSpPr>
          <p:cNvPr id="3" name="Subtitle 2">
            <a:extLst>
              <a:ext uri="{FF2B5EF4-FFF2-40B4-BE49-F238E27FC236}">
                <a16:creationId xmlns:a16="http://schemas.microsoft.com/office/drawing/2014/main" id="{DC0F418D-7E8A-B778-3145-8A736CB9956B}"/>
              </a:ext>
            </a:extLst>
          </p:cNvPr>
          <p:cNvSpPr>
            <a:spLocks noGrp="1"/>
          </p:cNvSpPr>
          <p:nvPr>
            <p:ph type="subTitle" idx="1"/>
          </p:nvPr>
        </p:nvSpPr>
        <p:spPr/>
        <p:txBody>
          <a:bodyPr vert="horz" lIns="91440" tIns="45720" rIns="91440" bIns="45720" rtlCol="0" anchor="t">
            <a:normAutofit/>
          </a:bodyPr>
          <a:lstStyle/>
          <a:p>
            <a:r>
              <a:rPr lang="en-GB" sz="2400">
                <a:latin typeface="Calibri"/>
                <a:ea typeface="Calibri"/>
                <a:cs typeface="Calibri"/>
              </a:rPr>
              <a:t>Presented by:</a:t>
            </a:r>
            <a:endParaRPr lang="en-GB" sz="2400" dirty="0">
              <a:latin typeface="Calibri"/>
              <a:ea typeface="Calibri"/>
              <a:cs typeface="Calibri"/>
            </a:endParaRPr>
          </a:p>
          <a:p>
            <a:r>
              <a:rPr lang="en-GB" sz="2400" dirty="0">
                <a:latin typeface="Calibri"/>
                <a:ea typeface="Calibri"/>
                <a:cs typeface="Calibri"/>
              </a:rPr>
              <a:t>  </a:t>
            </a:r>
            <a:r>
              <a:rPr lang="en-GB" sz="2400">
                <a:latin typeface="Calibri"/>
                <a:ea typeface="Calibri"/>
                <a:cs typeface="Calibri"/>
              </a:rPr>
              <a:t>R. Ram</a:t>
            </a:r>
            <a:r>
              <a:rPr lang="en-GB" sz="2400" dirty="0">
                <a:latin typeface="Calibri"/>
                <a:ea typeface="Calibri"/>
                <a:cs typeface="Calibri"/>
              </a:rPr>
              <a:t> Nikesh(192511302)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t>ROLE OF DATA CENTERS IN CLOUD COMPUTING</a:t>
            </a:r>
            <a:endParaRPr lang="en-US" sz="3200"/>
          </a:p>
        </p:txBody>
      </p:sp>
      <p:sp>
        <p:nvSpPr>
          <p:cNvPr id="113" name="Google Shape;113;p26"/>
          <p:cNvSpPr txBox="1">
            <a:spLocks noGrp="1"/>
          </p:cNvSpPr>
          <p:nvPr>
            <p:ph type="body" idx="1"/>
          </p:nvPr>
        </p:nvSpPr>
        <p:spPr>
          <a:xfrm>
            <a:off x="311700" y="1135425"/>
            <a:ext cx="8520600" cy="3438000"/>
          </a:xfrm>
          <a:prstGeom prst="rect">
            <a:avLst/>
          </a:prstGeom>
        </p:spPr>
        <p:txBody>
          <a:bodyPr spcFirstLastPara="1" wrap="square" lIns="91425" tIns="91425" rIns="91425" bIns="91425" anchor="t" anchorCtr="0">
            <a:normAutofit fontScale="85000" lnSpcReduction="20000"/>
          </a:bodyPr>
          <a:lstStyle/>
          <a:p>
            <a:pPr marL="0" lvl="0" indent="0" algn="l" rtl="0">
              <a:spcBef>
                <a:spcPts val="1800"/>
              </a:spcBef>
              <a:spcAft>
                <a:spcPts val="0"/>
              </a:spcAft>
              <a:buClr>
                <a:schemeClr val="dk2"/>
              </a:buClr>
              <a:buSzPct val="64706"/>
              <a:buFont typeface="Arial"/>
              <a:buNone/>
            </a:pPr>
            <a:r>
              <a:rPr lang="en" sz="1700" b="1">
                <a:latin typeface="Arial"/>
                <a:ea typeface="Arial"/>
                <a:cs typeface="Arial"/>
                <a:sym typeface="Arial"/>
              </a:rPr>
              <a:t>Introduction</a:t>
            </a:r>
            <a:endParaRPr sz="1700" b="1">
              <a:latin typeface="Arial"/>
              <a:ea typeface="Arial"/>
              <a:cs typeface="Arial"/>
              <a:sym typeface="Arial"/>
            </a:endParaRPr>
          </a:p>
          <a:p>
            <a:pPr marL="0" lvl="0" indent="0" algn="l" rtl="0">
              <a:lnSpc>
                <a:spcPct val="150000"/>
              </a:lnSpc>
              <a:spcBef>
                <a:spcPts val="1200"/>
              </a:spcBef>
              <a:spcAft>
                <a:spcPts val="0"/>
              </a:spcAft>
              <a:buClr>
                <a:schemeClr val="dk2"/>
              </a:buClr>
              <a:buSzPct val="78571"/>
              <a:buFont typeface="Arial"/>
              <a:buNone/>
            </a:pPr>
            <a:r>
              <a:rPr lang="en" sz="1400">
                <a:latin typeface="Arial"/>
                <a:ea typeface="Arial"/>
                <a:cs typeface="Arial"/>
                <a:sym typeface="Arial"/>
              </a:rPr>
              <a:t>Cloud computing has transformed the way individuals and organizations store, process, and access data. Instead of relying on personal computers or local servers, cloud services are delivered through powerful </a:t>
            </a:r>
            <a:r>
              <a:rPr lang="en" sz="1400" b="1">
                <a:latin typeface="Arial"/>
                <a:ea typeface="Arial"/>
                <a:cs typeface="Arial"/>
                <a:sym typeface="Arial"/>
              </a:rPr>
              <a:t>data centers</a:t>
            </a:r>
            <a:r>
              <a:rPr lang="en" sz="1400">
                <a:latin typeface="Arial"/>
                <a:ea typeface="Arial"/>
                <a:cs typeface="Arial"/>
                <a:sym typeface="Arial"/>
              </a:rPr>
              <a:t> that operate continuously over the Internet. These data centers form the backbone of cloud computing by providing reliable, secure, and scalable computing resources to millions of users worldwide.</a:t>
            </a:r>
            <a:endParaRPr sz="1400">
              <a:latin typeface="Arial"/>
              <a:ea typeface="Arial"/>
              <a:cs typeface="Arial"/>
              <a:sym typeface="Arial"/>
            </a:endParaRPr>
          </a:p>
          <a:p>
            <a:pPr marL="0" lvl="0" indent="0" algn="l" rtl="0">
              <a:spcBef>
                <a:spcPts val="1800"/>
              </a:spcBef>
              <a:spcAft>
                <a:spcPts val="0"/>
              </a:spcAft>
              <a:buClr>
                <a:schemeClr val="dk2"/>
              </a:buClr>
              <a:buSzPct val="64706"/>
              <a:buFont typeface="Arial"/>
              <a:buNone/>
            </a:pPr>
            <a:r>
              <a:rPr lang="en" sz="1700" b="1">
                <a:latin typeface="Arial"/>
                <a:ea typeface="Arial"/>
                <a:cs typeface="Arial"/>
                <a:sym typeface="Arial"/>
              </a:rPr>
              <a:t>Objectives</a:t>
            </a:r>
            <a:endParaRPr sz="1700" b="1">
              <a:latin typeface="Arial"/>
              <a:ea typeface="Arial"/>
              <a:cs typeface="Arial"/>
              <a:sym typeface="Arial"/>
            </a:endParaRPr>
          </a:p>
          <a:p>
            <a:pPr marL="457200" lvl="0" indent="-304165" algn="l" rtl="0">
              <a:lnSpc>
                <a:spcPct val="150000"/>
              </a:lnSpc>
              <a:spcBef>
                <a:spcPts val="1200"/>
              </a:spcBef>
              <a:spcAft>
                <a:spcPts val="0"/>
              </a:spcAft>
              <a:buSzPct val="100000"/>
              <a:buFont typeface="Arial"/>
              <a:buChar char="●"/>
            </a:pPr>
            <a:r>
              <a:rPr lang="en" sz="1400">
                <a:latin typeface="Arial"/>
                <a:ea typeface="Arial"/>
                <a:cs typeface="Arial"/>
                <a:sym typeface="Arial"/>
              </a:rPr>
              <a:t>Understand the concept of a </a:t>
            </a:r>
            <a:r>
              <a:rPr lang="en" sz="1400" b="1">
                <a:latin typeface="Arial"/>
                <a:ea typeface="Arial"/>
                <a:cs typeface="Arial"/>
                <a:sym typeface="Arial"/>
              </a:rPr>
              <a:t>data center</a:t>
            </a:r>
            <a:r>
              <a:rPr lang="en" sz="1400">
                <a:latin typeface="Arial"/>
                <a:ea typeface="Arial"/>
                <a:cs typeface="Arial"/>
                <a:sym typeface="Arial"/>
              </a:rPr>
              <a:t>.</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Learn the role of data centers in supporting </a:t>
            </a:r>
            <a:r>
              <a:rPr lang="en" sz="1400" b="1">
                <a:latin typeface="Arial"/>
                <a:ea typeface="Arial"/>
                <a:cs typeface="Arial"/>
                <a:sym typeface="Arial"/>
              </a:rPr>
              <a:t>cloud computing</a:t>
            </a:r>
            <a:r>
              <a:rPr lang="en" sz="1400">
                <a:latin typeface="Arial"/>
                <a:ea typeface="Arial"/>
                <a:cs typeface="Arial"/>
                <a:sym typeface="Arial"/>
              </a:rPr>
              <a:t>.</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Explore the basic architecture of a cloud data center.</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Understand its industry relevance through a real-world example.</a:t>
            </a:r>
            <a:endParaRPr sz="1400">
              <a:latin typeface="Arial"/>
              <a:ea typeface="Arial"/>
              <a:cs typeface="Arial"/>
              <a:sym typeface="Arial"/>
            </a:endParaRPr>
          </a:p>
          <a:p>
            <a:pPr marL="0" lvl="0" indent="0" algn="l" rtl="0">
              <a:spcBef>
                <a:spcPts val="12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WHAT IS A DATA CENTER?</a:t>
            </a:r>
            <a:endParaRPr/>
          </a:p>
        </p:txBody>
      </p:sp>
      <p:sp>
        <p:nvSpPr>
          <p:cNvPr id="119" name="Google Shape;119;p27"/>
          <p:cNvSpPr txBox="1">
            <a:spLocks noGrp="1"/>
          </p:cNvSpPr>
          <p:nvPr>
            <p:ph type="body" idx="1"/>
          </p:nvPr>
        </p:nvSpPr>
        <p:spPr>
          <a:xfrm>
            <a:off x="311700" y="1017725"/>
            <a:ext cx="8520600" cy="33348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Clr>
                <a:schemeClr val="dk2"/>
              </a:buClr>
              <a:buSzPts val="1100"/>
              <a:buFont typeface="Arial"/>
              <a:buNone/>
            </a:pPr>
            <a:r>
              <a:rPr lang="en" sz="1700" b="1">
                <a:latin typeface="Arial"/>
                <a:ea typeface="Arial"/>
                <a:cs typeface="Arial"/>
                <a:sym typeface="Arial"/>
              </a:rPr>
              <a:t>Definition:</a:t>
            </a:r>
            <a:endParaRPr sz="1700" b="1">
              <a:latin typeface="Arial"/>
              <a:ea typeface="Arial"/>
              <a:cs typeface="Arial"/>
              <a:sym typeface="Arial"/>
            </a:endParaRPr>
          </a:p>
          <a:p>
            <a:pPr marL="0" lvl="0" indent="0" algn="l" rtl="0">
              <a:spcBef>
                <a:spcPts val="1200"/>
              </a:spcBef>
              <a:spcAft>
                <a:spcPts val="0"/>
              </a:spcAft>
              <a:buNone/>
            </a:pPr>
            <a:r>
              <a:rPr lang="en" sz="1400">
                <a:latin typeface="Arial"/>
                <a:ea typeface="Arial"/>
                <a:cs typeface="Arial"/>
                <a:sym typeface="Arial"/>
              </a:rPr>
              <a:t>A </a:t>
            </a:r>
            <a:r>
              <a:rPr lang="en" sz="1400" b="1">
                <a:latin typeface="Arial"/>
                <a:ea typeface="Arial"/>
                <a:cs typeface="Arial"/>
                <a:sym typeface="Arial"/>
              </a:rPr>
              <a:t>Data Center</a:t>
            </a:r>
            <a:r>
              <a:rPr lang="en" sz="1400">
                <a:latin typeface="Arial"/>
                <a:ea typeface="Arial"/>
                <a:cs typeface="Arial"/>
                <a:sym typeface="Arial"/>
              </a:rPr>
              <a:t> is a facility that contains servers, storage devices, networking equipment, and cooling systems to store, process, and manage data. It is the backbone of cloud computing because cloud services run from data centers.</a:t>
            </a:r>
            <a:endParaRPr sz="1400">
              <a:latin typeface="Arial"/>
              <a:ea typeface="Arial"/>
              <a:cs typeface="Arial"/>
              <a:sym typeface="Arial"/>
            </a:endParaRPr>
          </a:p>
          <a:p>
            <a:pPr marL="0" lvl="0" indent="0" algn="l" rtl="0">
              <a:spcBef>
                <a:spcPts val="1200"/>
              </a:spcBef>
              <a:spcAft>
                <a:spcPts val="0"/>
              </a:spcAft>
              <a:buClr>
                <a:schemeClr val="dk2"/>
              </a:buClr>
              <a:buSzPts val="1100"/>
              <a:buFont typeface="Arial"/>
              <a:buNone/>
            </a:pPr>
            <a:endParaRPr sz="1300">
              <a:latin typeface="Arial"/>
              <a:ea typeface="Arial"/>
              <a:cs typeface="Arial"/>
              <a:sym typeface="Arial"/>
            </a:endParaRPr>
          </a:p>
          <a:p>
            <a:pPr marL="0" lvl="0" indent="0" algn="l" rtl="0">
              <a:spcBef>
                <a:spcPts val="1200"/>
              </a:spcBef>
              <a:spcAft>
                <a:spcPts val="0"/>
              </a:spcAft>
              <a:buNone/>
            </a:pPr>
            <a:endParaRPr sz="2000"/>
          </a:p>
        </p:txBody>
      </p:sp>
      <p:sp>
        <p:nvSpPr>
          <p:cNvPr id="120" name="Google Shape;120;p27"/>
          <p:cNvSpPr txBox="1"/>
          <p:nvPr/>
        </p:nvSpPr>
        <p:spPr>
          <a:xfrm>
            <a:off x="477625" y="2532900"/>
            <a:ext cx="3345900" cy="180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2"/>
              </a:buClr>
              <a:buSzPts val="1100"/>
              <a:buFont typeface="Arial"/>
              <a:buNone/>
            </a:pPr>
            <a:r>
              <a:rPr lang="en" sz="1700" b="1">
                <a:solidFill>
                  <a:schemeClr val="dk2"/>
                </a:solidFill>
              </a:rPr>
              <a:t>Components:</a:t>
            </a:r>
            <a:endParaRPr sz="1700" b="1">
              <a:solidFill>
                <a:schemeClr val="dk2"/>
              </a:solidFill>
            </a:endParaRPr>
          </a:p>
          <a:p>
            <a:pPr marL="457200" lvl="0" indent="-317500" algn="l" rtl="0">
              <a:lnSpc>
                <a:spcPct val="115000"/>
              </a:lnSpc>
              <a:spcBef>
                <a:spcPts val="1200"/>
              </a:spcBef>
              <a:spcAft>
                <a:spcPts val="0"/>
              </a:spcAft>
              <a:buClr>
                <a:schemeClr val="dk2"/>
              </a:buClr>
              <a:buSzPts val="1400"/>
              <a:buChar char="●"/>
            </a:pPr>
            <a:r>
              <a:rPr lang="en">
                <a:solidFill>
                  <a:schemeClr val="dk2"/>
                </a:solidFill>
              </a:rPr>
              <a:t>Servers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Storage Systems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Networking Devices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Power Supply</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Cooling Systems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Security Systems</a:t>
            </a:r>
            <a:endParaRPr>
              <a:solidFill>
                <a:schemeClr val="dk2"/>
              </a:solidFill>
            </a:endParaRPr>
          </a:p>
        </p:txBody>
      </p:sp>
      <p:sp>
        <p:nvSpPr>
          <p:cNvPr id="121" name="Google Shape;121;p27"/>
          <p:cNvSpPr txBox="1"/>
          <p:nvPr/>
        </p:nvSpPr>
        <p:spPr>
          <a:xfrm>
            <a:off x="4425275" y="2715900"/>
            <a:ext cx="3822300" cy="162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2"/>
              </a:buClr>
              <a:buSzPts val="1100"/>
              <a:buFont typeface="Arial"/>
              <a:buNone/>
            </a:pPr>
            <a:r>
              <a:rPr lang="en" sz="1700" b="1">
                <a:solidFill>
                  <a:schemeClr val="dk2"/>
                </a:solidFill>
              </a:rPr>
              <a:t>Functions:</a:t>
            </a:r>
            <a:endParaRPr sz="1700" b="1">
              <a:solidFill>
                <a:schemeClr val="dk2"/>
              </a:solidFill>
            </a:endParaRPr>
          </a:p>
          <a:p>
            <a:pPr marL="457200" lvl="0" indent="-317500" algn="l" rtl="0">
              <a:lnSpc>
                <a:spcPct val="115000"/>
              </a:lnSpc>
              <a:spcBef>
                <a:spcPts val="1200"/>
              </a:spcBef>
              <a:spcAft>
                <a:spcPts val="0"/>
              </a:spcAft>
              <a:buClr>
                <a:schemeClr val="dk2"/>
              </a:buClr>
              <a:buSzPts val="1400"/>
              <a:buChar char="●"/>
            </a:pPr>
            <a:r>
              <a:rPr lang="en">
                <a:solidFill>
                  <a:schemeClr val="dk2"/>
                </a:solidFill>
              </a:rPr>
              <a:t>Stores user data</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Runs cloud applications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Provides 24/7 availability</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Ensures backup and disaster recovery</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txBox="1">
            <a:spLocks noGrp="1"/>
          </p:cNvSpPr>
          <p:nvPr>
            <p:ph type="title"/>
          </p:nvPr>
        </p:nvSpPr>
        <p:spPr>
          <a:xfrm>
            <a:off x="311700" y="24295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ARCHITECTURE OF A CLOUD DATA CENTER </a:t>
            </a:r>
            <a:endParaRPr/>
          </a:p>
        </p:txBody>
      </p:sp>
      <p:sp>
        <p:nvSpPr>
          <p:cNvPr id="127" name="Google Shape;127;p28"/>
          <p:cNvSpPr txBox="1">
            <a:spLocks noGrp="1"/>
          </p:cNvSpPr>
          <p:nvPr>
            <p:ph type="body" idx="1"/>
          </p:nvPr>
        </p:nvSpPr>
        <p:spPr>
          <a:xfrm>
            <a:off x="3568600" y="1234075"/>
            <a:ext cx="5263800" cy="3334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2"/>
              </a:buClr>
              <a:buSzPts val="1100"/>
              <a:buFont typeface="Arial"/>
              <a:buNone/>
            </a:pPr>
            <a:r>
              <a:rPr lang="en" b="1">
                <a:latin typeface="Arial"/>
                <a:ea typeface="Arial"/>
                <a:cs typeface="Arial"/>
                <a:sym typeface="Arial"/>
              </a:rPr>
              <a:t>Working</a:t>
            </a:r>
            <a:endParaRPr b="1">
              <a:latin typeface="Arial"/>
              <a:ea typeface="Arial"/>
              <a:cs typeface="Arial"/>
              <a:sym typeface="Arial"/>
            </a:endParaRPr>
          </a:p>
          <a:p>
            <a:pPr marL="457200" lvl="0" indent="-330200" algn="l" rtl="0">
              <a:spcBef>
                <a:spcPts val="1200"/>
              </a:spcBef>
              <a:spcAft>
                <a:spcPts val="0"/>
              </a:spcAft>
              <a:buSzPts val="1600"/>
              <a:buFont typeface="Arial"/>
              <a:buAutoNum type="arabicPeriod"/>
            </a:pPr>
            <a:r>
              <a:rPr lang="en" sz="1600">
                <a:latin typeface="Arial"/>
                <a:ea typeface="Arial"/>
                <a:cs typeface="Arial"/>
                <a:sym typeface="Arial"/>
              </a:rPr>
              <a:t>User sends a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Request reaches the cloud through the Internet.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Load balancer distributes the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Virtual machines process the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Data is stored in storage systems.</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Results are sent back to the user.</a:t>
            </a:r>
            <a:endParaRPr sz="1600">
              <a:latin typeface="Arial"/>
              <a:ea typeface="Arial"/>
              <a:cs typeface="Arial"/>
              <a:sym typeface="Arial"/>
            </a:endParaRPr>
          </a:p>
          <a:p>
            <a:pPr marL="0" lvl="0" indent="0" algn="l" rtl="0">
              <a:spcBef>
                <a:spcPts val="1200"/>
              </a:spcBef>
              <a:spcAft>
                <a:spcPts val="0"/>
              </a:spcAft>
              <a:buNone/>
            </a:pPr>
            <a:endParaRPr/>
          </a:p>
        </p:txBody>
      </p:sp>
      <p:pic>
        <p:nvPicPr>
          <p:cNvPr id="128" name="Google Shape;128;p28" title="mermaid-diagram (14).png"/>
          <p:cNvPicPr preferRelativeResize="0"/>
          <p:nvPr/>
        </p:nvPicPr>
        <p:blipFill>
          <a:blip r:embed="rId3">
            <a:alphaModFix/>
          </a:blip>
          <a:stretch>
            <a:fillRect/>
          </a:stretch>
        </p:blipFill>
        <p:spPr>
          <a:xfrm>
            <a:off x="311700" y="939162"/>
            <a:ext cx="2520875" cy="3924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CONCLUSION</a:t>
            </a:r>
            <a:endParaRPr/>
          </a:p>
        </p:txBody>
      </p:sp>
      <p:sp>
        <p:nvSpPr>
          <p:cNvPr id="141" name="Google Shape;141;p30"/>
          <p:cNvSpPr txBox="1">
            <a:spLocks noGrp="1"/>
          </p:cNvSpPr>
          <p:nvPr>
            <p:ph type="body" idx="1"/>
          </p:nvPr>
        </p:nvSpPr>
        <p:spPr>
          <a:xfrm>
            <a:off x="311700" y="1277375"/>
            <a:ext cx="8520600" cy="33348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SzPts val="2000"/>
              <a:buChar char="●"/>
            </a:pPr>
            <a:r>
              <a:rPr lang="en" sz="2000"/>
              <a:t>Data centers store and process cloud data.</a:t>
            </a:r>
            <a:endParaRPr sz="2000"/>
          </a:p>
          <a:p>
            <a:pPr marL="457200" lvl="0" indent="-355600" algn="l" rtl="0">
              <a:lnSpc>
                <a:spcPct val="150000"/>
              </a:lnSpc>
              <a:spcBef>
                <a:spcPts val="0"/>
              </a:spcBef>
              <a:spcAft>
                <a:spcPts val="0"/>
              </a:spcAft>
              <a:buSzPts val="2000"/>
              <a:buChar char="●"/>
            </a:pPr>
            <a:r>
              <a:rPr lang="en" sz="2000"/>
              <a:t>They ensure high availability and security.</a:t>
            </a:r>
            <a:endParaRPr sz="2000"/>
          </a:p>
          <a:p>
            <a:pPr marL="457200" lvl="0" indent="-355600" algn="l" rtl="0">
              <a:lnSpc>
                <a:spcPct val="150000"/>
              </a:lnSpc>
              <a:spcBef>
                <a:spcPts val="0"/>
              </a:spcBef>
              <a:spcAft>
                <a:spcPts val="0"/>
              </a:spcAft>
              <a:buSzPts val="2000"/>
              <a:buChar char="●"/>
            </a:pPr>
            <a:r>
              <a:rPr lang="en" sz="2000"/>
              <a:t>Virtualization improves resource utilization.</a:t>
            </a:r>
            <a:endParaRPr sz="2000"/>
          </a:p>
          <a:p>
            <a:pPr marL="457200" lvl="0" indent="-355600" algn="l" rtl="0">
              <a:lnSpc>
                <a:spcPct val="150000"/>
              </a:lnSpc>
              <a:spcBef>
                <a:spcPts val="0"/>
              </a:spcBef>
              <a:spcAft>
                <a:spcPts val="0"/>
              </a:spcAft>
              <a:buSzPts val="2000"/>
              <a:buChar char="●"/>
            </a:pPr>
            <a:r>
              <a:rPr lang="en" sz="2000"/>
              <a:t>Cloud services depend on data centers.</a:t>
            </a:r>
            <a:endParaRPr sz="2000"/>
          </a:p>
        </p:txBody>
      </p:sp>
    </p:spTree>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361</Words>
  <Application>Microsoft Office PowerPoint</Application>
  <PresentationFormat>On-screen Show (16:9)</PresentationFormat>
  <Paragraphs>57</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AccentBoxVTI</vt:lpstr>
      <vt:lpstr>CSA1521 - CLOUD COMPUTING  CO1 - AT3 - TECHNICAL PRESENTATION </vt:lpstr>
      <vt:lpstr>ROLE OF DATA CENTERS IN CLOUD COMPUTING</vt:lpstr>
      <vt:lpstr>WHAT IS A DATA CENTER?</vt:lpstr>
      <vt:lpstr>ARCHITECTURE OF A CLOUD DATA CENTER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CSA1521 - CLOUD COMPUTING  CO1 - AT3 - TECHNICAL PRESENTATION </dc:title>
  <cp:lastModifiedBy>Microsoft account</cp:lastModifiedBy>
  <cp:revision>19</cp:revision>
  <dcterms:modified xsi:type="dcterms:W3CDTF">2026-07-28T07:55:14Z</dcterms:modified>
</cp:coreProperties>
</file>